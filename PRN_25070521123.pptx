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e9d7311-c42f-ab11-8d06-ec0c87eb203d}">
          <p14:sldIdLst>
            <p14:sldId id="256"/>
            <p14:sldId id="257"/>
          </p14:sldIdLst>
        </p14:section>
        <p14:section name="1. Divide and Conquer" id="{897f709a-ffaf-da7a-2d58-75f38ffd4be3}">
          <p14:sldIdLst>
            <p14:sldId id="258"/>
            <p14:sldId id="259"/>
            <p14:sldId id="260"/>
          </p14:sldIdLst>
        </p14:section>
        <p14:section name="2. Split and Merge" id="{b98feeb3-5ac0-5318-1c12-9eeb4ea0d17e}">
          <p14:sldIdLst>
            <p14:sldId id="261"/>
            <p14:sldId id="262"/>
            <p14:sldId id="263"/>
          </p14:sldIdLst>
        </p14:section>
        <p14:section name="3. Complexity" id="{9a379d4a-0a68-e989-c117-678e750036c8}">
          <p14:sldIdLst>
            <p14:sldId id="264"/>
            <p14:sldId id="265"/>
          </p14:sldIdLst>
        </p14:section>
        <p14:section name="4. Properties" id="{a71b4096-c868-e3c6-7e20-695381ece030}">
          <p14:sldIdLst>
            <p14:sldId id="266"/>
          </p14:sldIdLst>
        </p14:section>
        <p14:section name="5. Comparison and Uses" id="{2c2d720e-f3fd-a753-8939-fb79a93c37b0}">
          <p14:sldIdLst>
            <p14:sldId id="267"/>
            <p14:sldId id="268"/>
            <p14:sldId id="269"/>
          </p14:sldIdLst>
        </p14:section>
        <p14:section name="Conclusion" id="{a92d2e56-b2e7-c45d-7ab9-72e056ec64c3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Merge Sort: a reliable O(n log n) sorting algorithm built on divide and conquer. The five topics follow the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topics, in teaching order. Each matches one part of the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steps: divide, conquer, combine. Merge Sort follows this pattern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phases on one array: divide into halves, conquer by sorting each half, combine with a merge.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Sort and Binary Search also divide and conquer. Merge Sort does its hard work when combining; Quick Sort does it when dividing.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halving until every piece has a single element. A single element is already sorted.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two sorted lists: compare the front elements, move the smaller one to the result, repeat. Copy leftovers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the merge on the way back up until one sorted array remains.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the levels: about log n. Each level does about n work. Total n times log n. The recurrence T(n) = 2T(n/2) + n gives the same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is O(n log n) for the best, average and worst case. Space is O(n) because merging needs a temporary array.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Stable, not in place, predictable, and good for linked lists and external sorting.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Sort is usually faster in practice with little extra memory, but its worst case is O(n squared). Merge Sort guarantees O(n log n) and is 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Bubble, Insertion and Selection Sort are O(n squared). For one million items that is a trillion steps versus about twenty million.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sorts with Timsort, a merge sort hybrid. Java uses a merge-based sort for objects. Databases and big data tools use merge sort for files too large for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strategy, complexity, properties, and when to choose Merge 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4028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Merge Sort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Merge Sort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40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 Divide and Conquer sorting algorithm: how it works, its complexity, properties and uses</a:t>
            </a:r>
            <a:endParaRPr lang="en-US" sz="2000" dirty="0"/>
          </a:p>
        </p:txBody>
      </p:sp>
      <p:sp>
        <p:nvSpPr>
          <p:cNvPr id="4" name="Sorted array group 1"/>
          <p:cNvSpPr/>
          <p:nvPr/>
        </p:nvSpPr>
        <p:spPr>
          <a:xfrm>
            <a:off x="3035808" y="3657600"/>
            <a:ext cx="3072384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" name="Sorted array block 1.1"/>
          <p:cNvSpPr txBox="1"/>
          <p:nvPr/>
        </p:nvSpPr>
        <p:spPr>
          <a:xfrm>
            <a:off x="3090672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6" name="Sorted array block 1.2"/>
          <p:cNvSpPr txBox="1"/>
          <p:nvPr/>
        </p:nvSpPr>
        <p:spPr>
          <a:xfrm>
            <a:off x="3520440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7" name="Sorted array block 1.3"/>
          <p:cNvSpPr txBox="1"/>
          <p:nvPr/>
        </p:nvSpPr>
        <p:spPr>
          <a:xfrm>
            <a:off x="3950208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8" name="Sorted array block 1.4"/>
          <p:cNvSpPr txBox="1"/>
          <p:nvPr/>
        </p:nvSpPr>
        <p:spPr>
          <a:xfrm>
            <a:off x="4379976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27</a:t>
            </a:r>
            <a:endParaRPr lang="en-US" sz="1300" dirty="0"/>
          </a:p>
        </p:txBody>
      </p:sp>
      <p:sp>
        <p:nvSpPr>
          <p:cNvPr id="9" name="Sorted array block 1.5"/>
          <p:cNvSpPr txBox="1"/>
          <p:nvPr/>
        </p:nvSpPr>
        <p:spPr>
          <a:xfrm>
            <a:off x="4809744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38</a:t>
            </a:r>
            <a:endParaRPr lang="en-US" sz="1300" dirty="0"/>
          </a:p>
        </p:txBody>
      </p:sp>
      <p:sp>
        <p:nvSpPr>
          <p:cNvPr id="10" name="Sorted array block 1.6"/>
          <p:cNvSpPr txBox="1"/>
          <p:nvPr/>
        </p:nvSpPr>
        <p:spPr>
          <a:xfrm>
            <a:off x="5239512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43</a:t>
            </a:r>
            <a:endParaRPr lang="en-US" sz="1300" dirty="0"/>
          </a:p>
        </p:txBody>
      </p:sp>
      <p:sp>
        <p:nvSpPr>
          <p:cNvPr id="11" name="Sorted array block 1.7"/>
          <p:cNvSpPr txBox="1"/>
          <p:nvPr/>
        </p:nvSpPr>
        <p:spPr>
          <a:xfrm>
            <a:off x="5669280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we will cover</a:t>
            </a:r>
            <a:endParaRPr lang="en-US" sz="3600" dirty="0"/>
          </a:p>
        </p:txBody>
      </p:sp>
      <p:sp>
        <p:nvSpPr>
          <p:cNvPr id="4" name="Agenda row 1"/>
          <p:cNvSpPr/>
          <p:nvPr/>
        </p:nvSpPr>
        <p:spPr>
          <a:xfrm>
            <a:off x="457200" y="118872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5" name="Agenda number 1"/>
          <p:cNvSpPr txBox="1"/>
          <p:nvPr/>
        </p:nvSpPr>
        <p:spPr>
          <a:xfrm>
            <a:off x="594360" y="12435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Agenda topic 1"/>
          <p:cNvSpPr txBox="1"/>
          <p:nvPr/>
        </p:nvSpPr>
        <p:spPr>
          <a:xfrm>
            <a:off x="1280160" y="12435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Divide and Conquer</a:t>
            </a:r>
            <a:endParaRPr lang="en-US" sz="1800" dirty="0"/>
          </a:p>
        </p:txBody>
      </p:sp>
      <p:sp>
        <p:nvSpPr>
          <p:cNvPr id="7" name="Agenda detail 1"/>
          <p:cNvSpPr txBox="1"/>
          <p:nvPr/>
        </p:nvSpPr>
        <p:spPr>
          <a:xfrm>
            <a:off x="4389120" y="12435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strategy behind Merge Sort</a:t>
            </a:r>
            <a:endParaRPr lang="en-US" sz="1400" dirty="0"/>
          </a:p>
        </p:txBody>
      </p:sp>
      <p:sp>
        <p:nvSpPr>
          <p:cNvPr id="8" name="Agenda row 2"/>
          <p:cNvSpPr/>
          <p:nvPr/>
        </p:nvSpPr>
        <p:spPr>
          <a:xfrm>
            <a:off x="457200" y="1883664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9" name="Agenda number 2"/>
          <p:cNvSpPr txBox="1"/>
          <p:nvPr/>
        </p:nvSpPr>
        <p:spPr>
          <a:xfrm>
            <a:off x="594360" y="19385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Agenda topic 2"/>
          <p:cNvSpPr txBox="1"/>
          <p:nvPr/>
        </p:nvSpPr>
        <p:spPr>
          <a:xfrm>
            <a:off x="1280160" y="1938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Split and Merge</a:t>
            </a:r>
            <a:endParaRPr lang="en-US" sz="1800" dirty="0"/>
          </a:p>
        </p:txBody>
      </p:sp>
      <p:sp>
        <p:nvSpPr>
          <p:cNvPr id="11" name="Agenda detail 2"/>
          <p:cNvSpPr txBox="1"/>
          <p:nvPr/>
        </p:nvSpPr>
        <p:spPr>
          <a:xfrm>
            <a:off x="4389120" y="1938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How the array is sorted, step by step</a:t>
            </a:r>
            <a:endParaRPr lang="en-US" sz="1400" dirty="0"/>
          </a:p>
        </p:txBody>
      </p:sp>
      <p:sp>
        <p:nvSpPr>
          <p:cNvPr id="12" name="Agenda row 3"/>
          <p:cNvSpPr/>
          <p:nvPr/>
        </p:nvSpPr>
        <p:spPr>
          <a:xfrm>
            <a:off x="457200" y="2578608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3" name="Agenda number 3"/>
          <p:cNvSpPr txBox="1"/>
          <p:nvPr/>
        </p:nvSpPr>
        <p:spPr>
          <a:xfrm>
            <a:off x="594360" y="263347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Agenda topic 3"/>
          <p:cNvSpPr txBox="1"/>
          <p:nvPr/>
        </p:nvSpPr>
        <p:spPr>
          <a:xfrm>
            <a:off x="1280160" y="26334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Time and space complexity</a:t>
            </a:r>
            <a:endParaRPr lang="en-US" sz="1800" dirty="0"/>
          </a:p>
        </p:txBody>
      </p:sp>
      <p:sp>
        <p:nvSpPr>
          <p:cNvPr id="15" name="Agenda detail 3"/>
          <p:cNvSpPr txBox="1"/>
          <p:nvPr/>
        </p:nvSpPr>
        <p:spPr>
          <a:xfrm>
            <a:off x="4389120" y="26334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Why it is O(n log n) time and O(n) space</a:t>
            </a:r>
            <a:endParaRPr lang="en-US" sz="1400" dirty="0"/>
          </a:p>
        </p:txBody>
      </p:sp>
      <p:sp>
        <p:nvSpPr>
          <p:cNvPr id="16" name="Agenda row 4"/>
          <p:cNvSpPr/>
          <p:nvPr/>
        </p:nvSpPr>
        <p:spPr>
          <a:xfrm>
            <a:off x="457200" y="3273552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7" name="Agenda number 4"/>
          <p:cNvSpPr txBox="1"/>
          <p:nvPr/>
        </p:nvSpPr>
        <p:spPr>
          <a:xfrm>
            <a:off x="594360" y="3328416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Agenda topic 4"/>
          <p:cNvSpPr txBox="1"/>
          <p:nvPr/>
        </p:nvSpPr>
        <p:spPr>
          <a:xfrm>
            <a:off x="1280160" y="33284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Properties</a:t>
            </a:r>
            <a:endParaRPr lang="en-US" sz="1800" dirty="0"/>
          </a:p>
        </p:txBody>
      </p:sp>
      <p:sp>
        <p:nvSpPr>
          <p:cNvPr id="19" name="Agenda detail 4"/>
          <p:cNvSpPr txBox="1"/>
          <p:nvPr/>
        </p:nvSpPr>
        <p:spPr>
          <a:xfrm>
            <a:off x="4389120" y="33284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Stability, in-place, and strengths</a:t>
            </a:r>
            <a:endParaRPr lang="en-US" sz="1400" dirty="0"/>
          </a:p>
        </p:txBody>
      </p:sp>
      <p:sp>
        <p:nvSpPr>
          <p:cNvPr id="20" name="Agenda row 5"/>
          <p:cNvSpPr/>
          <p:nvPr/>
        </p:nvSpPr>
        <p:spPr>
          <a:xfrm>
            <a:off x="457200" y="3968496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21" name="Agenda number 5"/>
          <p:cNvSpPr txBox="1"/>
          <p:nvPr/>
        </p:nvSpPr>
        <p:spPr>
          <a:xfrm>
            <a:off x="594360" y="402336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Agenda topic 5"/>
          <p:cNvSpPr txBox="1"/>
          <p:nvPr/>
        </p:nvSpPr>
        <p:spPr>
          <a:xfrm>
            <a:off x="128016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Comparison and uses</a:t>
            </a:r>
            <a:endParaRPr lang="en-US" sz="1800" dirty="0"/>
          </a:p>
        </p:txBody>
      </p:sp>
      <p:sp>
        <p:nvSpPr>
          <p:cNvPr id="23" name="Agenda detail 5"/>
          <p:cNvSpPr txBox="1"/>
          <p:nvPr/>
        </p:nvSpPr>
        <p:spPr>
          <a:xfrm>
            <a:off x="4389120" y="4023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Versus other sorts, and real-world use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Divide and Conquer</a:t>
            </a:r>
            <a:endParaRPr lang="en-US" sz="3600" dirty="0"/>
          </a:p>
        </p:txBody>
      </p:sp>
      <p:sp>
        <p:nvSpPr>
          <p:cNvPr id="4" name="Step 1 card"/>
          <p:cNvSpPr/>
          <p:nvPr/>
        </p:nvSpPr>
        <p:spPr>
          <a:xfrm>
            <a:off x="457200" y="1280160"/>
            <a:ext cx="25603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5" name="Step 1 number"/>
          <p:cNvSpPr txBox="1"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tep 1 heading"/>
          <p:cNvSpPr txBox="1"/>
          <p:nvPr/>
        </p:nvSpPr>
        <p:spPr>
          <a:xfrm>
            <a:off x="685800" y="2057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Divide</a:t>
            </a:r>
            <a:endParaRPr lang="en-US" sz="2000" dirty="0"/>
          </a:p>
        </p:txBody>
      </p:sp>
      <p:sp>
        <p:nvSpPr>
          <p:cNvPr id="7" name="Step 1 text"/>
          <p:cNvSpPr txBox="1"/>
          <p:nvPr/>
        </p:nvSpPr>
        <p:spPr>
          <a:xfrm>
            <a:off x="68580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Split the problem into smaller subproblems.</a:t>
            </a:r>
            <a:endParaRPr lang="en-US" sz="1400" dirty="0"/>
          </a:p>
        </p:txBody>
      </p:sp>
      <p:sp>
        <p:nvSpPr>
          <p:cNvPr id="8" name="Step 2 card"/>
          <p:cNvSpPr/>
          <p:nvPr/>
        </p:nvSpPr>
        <p:spPr>
          <a:xfrm>
            <a:off x="3291840" y="1280160"/>
            <a:ext cx="25603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tep 2 number"/>
          <p:cNvSpPr txBox="1"/>
          <p:nvPr/>
        </p:nvSpPr>
        <p:spPr>
          <a:xfrm>
            <a:off x="3520440" y="1463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tep 2 heading"/>
          <p:cNvSpPr txBox="1"/>
          <p:nvPr/>
        </p:nvSpPr>
        <p:spPr>
          <a:xfrm>
            <a:off x="3520440" y="2057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Conquer</a:t>
            </a:r>
            <a:endParaRPr lang="en-US" sz="2000" dirty="0"/>
          </a:p>
        </p:txBody>
      </p:sp>
      <p:sp>
        <p:nvSpPr>
          <p:cNvPr id="11" name="Step 2 text"/>
          <p:cNvSpPr txBox="1"/>
          <p:nvPr/>
        </p:nvSpPr>
        <p:spPr>
          <a:xfrm>
            <a:off x="352044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Solve each subproblem on its own.</a:t>
            </a:r>
            <a:endParaRPr lang="en-US" sz="1400" dirty="0"/>
          </a:p>
        </p:txBody>
      </p:sp>
      <p:sp>
        <p:nvSpPr>
          <p:cNvPr id="12" name="Step 3 card"/>
          <p:cNvSpPr/>
          <p:nvPr/>
        </p:nvSpPr>
        <p:spPr>
          <a:xfrm>
            <a:off x="6126480" y="1280160"/>
            <a:ext cx="25603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3" name="Step 3 number"/>
          <p:cNvSpPr txBox="1"/>
          <p:nvPr/>
        </p:nvSpPr>
        <p:spPr>
          <a:xfrm>
            <a:off x="6355080" y="14630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tep 3 heading"/>
          <p:cNvSpPr txBox="1"/>
          <p:nvPr/>
        </p:nvSpPr>
        <p:spPr>
          <a:xfrm>
            <a:off x="6355080" y="2057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Combine</a:t>
            </a:r>
            <a:endParaRPr lang="en-US" sz="2000" dirty="0"/>
          </a:p>
        </p:txBody>
      </p:sp>
      <p:sp>
        <p:nvSpPr>
          <p:cNvPr id="15" name="Step 3 text"/>
          <p:cNvSpPr txBox="1"/>
          <p:nvPr/>
        </p:nvSpPr>
        <p:spPr>
          <a:xfrm>
            <a:off x="63550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Merge the answers into the final solution.</a:t>
            </a:r>
            <a:endParaRPr lang="en-US" sz="1400" dirty="0"/>
          </a:p>
        </p:txBody>
      </p:sp>
      <p:sp>
        <p:nvSpPr>
          <p:cNvPr id="16" name="Caption"/>
          <p:cNvSpPr txBox="1"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One big problem becomes many easy problems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Merge Sort in action</a:t>
            </a:r>
            <a:endParaRPr lang="en-US" sz="3600" dirty="0"/>
          </a:p>
        </p:txBody>
      </p:sp>
      <p:sp>
        <p:nvSpPr>
          <p:cNvPr id="4" name="Phase label 1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Divide: split into two halves</a:t>
            </a:r>
            <a:endParaRPr lang="en-US" sz="1600" dirty="0"/>
          </a:p>
        </p:txBody>
      </p:sp>
      <p:sp>
        <p:nvSpPr>
          <p:cNvPr id="5" name="Phase 1 group 1"/>
          <p:cNvSpPr/>
          <p:nvPr/>
        </p:nvSpPr>
        <p:spPr>
          <a:xfrm>
            <a:off x="2903220" y="1554480"/>
            <a:ext cx="17830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6" name="Phase 1 block 1.1"/>
          <p:cNvSpPr txBox="1"/>
          <p:nvPr/>
        </p:nvSpPr>
        <p:spPr>
          <a:xfrm>
            <a:off x="2958084" y="160934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38</a:t>
            </a:r>
            <a:endParaRPr lang="en-US" sz="1300" dirty="0"/>
          </a:p>
        </p:txBody>
      </p:sp>
      <p:sp>
        <p:nvSpPr>
          <p:cNvPr id="7" name="Phase 1 block 1.2"/>
          <p:cNvSpPr txBox="1"/>
          <p:nvPr/>
        </p:nvSpPr>
        <p:spPr>
          <a:xfrm>
            <a:off x="3387852" y="160934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27</a:t>
            </a:r>
            <a:endParaRPr lang="en-US" sz="1300" dirty="0"/>
          </a:p>
        </p:txBody>
      </p:sp>
      <p:sp>
        <p:nvSpPr>
          <p:cNvPr id="8" name="Phase 1 block 1.3"/>
          <p:cNvSpPr txBox="1"/>
          <p:nvPr/>
        </p:nvSpPr>
        <p:spPr>
          <a:xfrm>
            <a:off x="3817620" y="160934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43</a:t>
            </a:r>
            <a:endParaRPr lang="en-US" sz="1300" dirty="0"/>
          </a:p>
        </p:txBody>
      </p:sp>
      <p:sp>
        <p:nvSpPr>
          <p:cNvPr id="9" name="Phase 1 block 1.4"/>
          <p:cNvSpPr txBox="1"/>
          <p:nvPr/>
        </p:nvSpPr>
        <p:spPr>
          <a:xfrm>
            <a:off x="4247388" y="160934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0" name="Phase 1 group 2"/>
          <p:cNvSpPr/>
          <p:nvPr/>
        </p:nvSpPr>
        <p:spPr>
          <a:xfrm>
            <a:off x="4887468" y="1554480"/>
            <a:ext cx="1353312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1" name="Phase 1 block 2.1"/>
          <p:cNvSpPr txBox="1"/>
          <p:nvPr/>
        </p:nvSpPr>
        <p:spPr>
          <a:xfrm>
            <a:off x="4942332" y="160934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12" name="Phase 1 block 2.2"/>
          <p:cNvSpPr txBox="1"/>
          <p:nvPr/>
        </p:nvSpPr>
        <p:spPr>
          <a:xfrm>
            <a:off x="5372100" y="160934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82</a:t>
            </a:r>
            <a:endParaRPr lang="en-US" sz="1300" dirty="0"/>
          </a:p>
        </p:txBody>
      </p:sp>
      <p:sp>
        <p:nvSpPr>
          <p:cNvPr id="13" name="Phase 1 block 2.3"/>
          <p:cNvSpPr txBox="1"/>
          <p:nvPr/>
        </p:nvSpPr>
        <p:spPr>
          <a:xfrm>
            <a:off x="5801868" y="160934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14" name="Phase label 2"/>
          <p:cNvSpPr txBox="1"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Conquer: sort each half recursively</a:t>
            </a:r>
            <a:endParaRPr lang="en-US" sz="1600" dirty="0"/>
          </a:p>
        </p:txBody>
      </p:sp>
      <p:sp>
        <p:nvSpPr>
          <p:cNvPr id="15" name="Phase 2 group 1"/>
          <p:cNvSpPr/>
          <p:nvPr/>
        </p:nvSpPr>
        <p:spPr>
          <a:xfrm>
            <a:off x="2903220" y="2606040"/>
            <a:ext cx="17830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6" name="Phase 2 block 1.1"/>
          <p:cNvSpPr txBox="1"/>
          <p:nvPr/>
        </p:nvSpPr>
        <p:spPr>
          <a:xfrm>
            <a:off x="2958084" y="266090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Phase 2 block 1.2"/>
          <p:cNvSpPr txBox="1"/>
          <p:nvPr/>
        </p:nvSpPr>
        <p:spPr>
          <a:xfrm>
            <a:off x="3387852" y="266090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27</a:t>
            </a:r>
            <a:endParaRPr lang="en-US" sz="1300" dirty="0"/>
          </a:p>
        </p:txBody>
      </p:sp>
      <p:sp>
        <p:nvSpPr>
          <p:cNvPr id="18" name="Phase 2 block 1.3"/>
          <p:cNvSpPr txBox="1"/>
          <p:nvPr/>
        </p:nvSpPr>
        <p:spPr>
          <a:xfrm>
            <a:off x="3817620" y="266090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38</a:t>
            </a:r>
            <a:endParaRPr lang="en-US" sz="1300" dirty="0"/>
          </a:p>
        </p:txBody>
      </p:sp>
      <p:sp>
        <p:nvSpPr>
          <p:cNvPr id="19" name="Phase 2 block 1.4"/>
          <p:cNvSpPr txBox="1"/>
          <p:nvPr/>
        </p:nvSpPr>
        <p:spPr>
          <a:xfrm>
            <a:off x="4247388" y="266090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43</a:t>
            </a:r>
            <a:endParaRPr lang="en-US" sz="1300" dirty="0"/>
          </a:p>
        </p:txBody>
      </p:sp>
      <p:sp>
        <p:nvSpPr>
          <p:cNvPr id="20" name="Phase 2 group 2"/>
          <p:cNvSpPr/>
          <p:nvPr/>
        </p:nvSpPr>
        <p:spPr>
          <a:xfrm>
            <a:off x="4887468" y="2606040"/>
            <a:ext cx="1353312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1" name="Phase 2 block 2.1"/>
          <p:cNvSpPr txBox="1"/>
          <p:nvPr/>
        </p:nvSpPr>
        <p:spPr>
          <a:xfrm>
            <a:off x="4942332" y="266090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22" name="Phase 2 block 2.2"/>
          <p:cNvSpPr txBox="1"/>
          <p:nvPr/>
        </p:nvSpPr>
        <p:spPr>
          <a:xfrm>
            <a:off x="5372100" y="266090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23" name="Phase 2 block 2.3"/>
          <p:cNvSpPr txBox="1"/>
          <p:nvPr/>
        </p:nvSpPr>
        <p:spPr>
          <a:xfrm>
            <a:off x="5801868" y="266090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82</a:t>
            </a:r>
            <a:endParaRPr lang="en-US" sz="1300" dirty="0"/>
          </a:p>
        </p:txBody>
      </p:sp>
      <p:sp>
        <p:nvSpPr>
          <p:cNvPr id="24" name="Phase label 3"/>
          <p:cNvSpPr txBox="1"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Combine: merge the sorted halves</a:t>
            </a:r>
            <a:endParaRPr lang="en-US" sz="1600" dirty="0"/>
          </a:p>
        </p:txBody>
      </p:sp>
      <p:sp>
        <p:nvSpPr>
          <p:cNvPr id="25" name="Phase 3 group 1"/>
          <p:cNvSpPr/>
          <p:nvPr/>
        </p:nvSpPr>
        <p:spPr>
          <a:xfrm>
            <a:off x="3035808" y="3657600"/>
            <a:ext cx="3072384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6" name="Phase 3 block 1.1"/>
          <p:cNvSpPr txBox="1"/>
          <p:nvPr/>
        </p:nvSpPr>
        <p:spPr>
          <a:xfrm>
            <a:off x="3090672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Phase 3 block 1.2"/>
          <p:cNvSpPr txBox="1"/>
          <p:nvPr/>
        </p:nvSpPr>
        <p:spPr>
          <a:xfrm>
            <a:off x="3520440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28" name="Phase 3 block 1.3"/>
          <p:cNvSpPr txBox="1"/>
          <p:nvPr/>
        </p:nvSpPr>
        <p:spPr>
          <a:xfrm>
            <a:off x="3950208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29" name="Phase 3 block 1.4"/>
          <p:cNvSpPr txBox="1"/>
          <p:nvPr/>
        </p:nvSpPr>
        <p:spPr>
          <a:xfrm>
            <a:off x="4379976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27</a:t>
            </a:r>
            <a:endParaRPr lang="en-US" sz="1300" dirty="0"/>
          </a:p>
        </p:txBody>
      </p:sp>
      <p:sp>
        <p:nvSpPr>
          <p:cNvPr id="30" name="Phase 3 block 1.5"/>
          <p:cNvSpPr txBox="1"/>
          <p:nvPr/>
        </p:nvSpPr>
        <p:spPr>
          <a:xfrm>
            <a:off x="4809744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38</a:t>
            </a:r>
            <a:endParaRPr lang="en-US" sz="1300" dirty="0"/>
          </a:p>
        </p:txBody>
      </p:sp>
      <p:sp>
        <p:nvSpPr>
          <p:cNvPr id="31" name="Phase 3 block 1.6"/>
          <p:cNvSpPr txBox="1"/>
          <p:nvPr/>
        </p:nvSpPr>
        <p:spPr>
          <a:xfrm>
            <a:off x="5239512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43</a:t>
            </a:r>
            <a:endParaRPr lang="en-US" sz="1300" dirty="0"/>
          </a:p>
        </p:txBody>
      </p:sp>
      <p:sp>
        <p:nvSpPr>
          <p:cNvPr id="32" name="Phase 3 block 1.7"/>
          <p:cNvSpPr txBox="1"/>
          <p:nvPr/>
        </p:nvSpPr>
        <p:spPr>
          <a:xfrm>
            <a:off x="5669280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Same idea, different work</a:t>
            </a:r>
            <a:endParaRPr lang="en-US" sz="3600" dirty="0"/>
          </a:p>
        </p:txBody>
      </p:sp>
      <p:graphicFrame>
        <p:nvGraphicFramePr>
          <p:cNvPr id="6" name="D&amp;C 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Algorithm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Divide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Combine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Merge Sort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Split in half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Merge sorted halves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Quick Sort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Partition by pivot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Nothing to 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Binary Search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Keep one half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Nothing to 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Caption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Merge Sort does its work when combining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Step 1: Split</a:t>
            </a:r>
            <a:endParaRPr lang="en-US" sz="3600" dirty="0"/>
          </a:p>
        </p:txBody>
      </p:sp>
      <p:sp>
        <p:nvSpPr>
          <p:cNvPr id="4" name="Split level 1 group 1"/>
          <p:cNvSpPr/>
          <p:nvPr/>
        </p:nvSpPr>
        <p:spPr>
          <a:xfrm>
            <a:off x="3035808" y="1188720"/>
            <a:ext cx="3072384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" name="Split level 1 block 1.1"/>
          <p:cNvSpPr txBox="1"/>
          <p:nvPr/>
        </p:nvSpPr>
        <p:spPr>
          <a:xfrm>
            <a:off x="3090672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38</a:t>
            </a:r>
            <a:endParaRPr lang="en-US" sz="1300" dirty="0"/>
          </a:p>
        </p:txBody>
      </p:sp>
      <p:sp>
        <p:nvSpPr>
          <p:cNvPr id="6" name="Split level 1 block 1.2"/>
          <p:cNvSpPr txBox="1"/>
          <p:nvPr/>
        </p:nvSpPr>
        <p:spPr>
          <a:xfrm>
            <a:off x="3520440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27</a:t>
            </a:r>
            <a:endParaRPr lang="en-US" sz="1300" dirty="0"/>
          </a:p>
        </p:txBody>
      </p:sp>
      <p:sp>
        <p:nvSpPr>
          <p:cNvPr id="7" name="Split level 1 block 1.3"/>
          <p:cNvSpPr txBox="1"/>
          <p:nvPr/>
        </p:nvSpPr>
        <p:spPr>
          <a:xfrm>
            <a:off x="3950208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43</a:t>
            </a:r>
            <a:endParaRPr lang="en-US" sz="1300" dirty="0"/>
          </a:p>
        </p:txBody>
      </p:sp>
      <p:sp>
        <p:nvSpPr>
          <p:cNvPr id="8" name="Split level 1 block 1.4"/>
          <p:cNvSpPr txBox="1"/>
          <p:nvPr/>
        </p:nvSpPr>
        <p:spPr>
          <a:xfrm>
            <a:off x="4379976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9" name="Split level 1 block 1.5"/>
          <p:cNvSpPr txBox="1"/>
          <p:nvPr/>
        </p:nvSpPr>
        <p:spPr>
          <a:xfrm>
            <a:off x="4809744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10" name="Split level 1 block 1.6"/>
          <p:cNvSpPr txBox="1"/>
          <p:nvPr/>
        </p:nvSpPr>
        <p:spPr>
          <a:xfrm>
            <a:off x="5239512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82</a:t>
            </a:r>
            <a:endParaRPr lang="en-US" sz="1300" dirty="0"/>
          </a:p>
        </p:txBody>
      </p:sp>
      <p:sp>
        <p:nvSpPr>
          <p:cNvPr id="11" name="Split level 1 block 1.7"/>
          <p:cNvSpPr txBox="1"/>
          <p:nvPr/>
        </p:nvSpPr>
        <p:spPr>
          <a:xfrm>
            <a:off x="5669280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12" name="Split level 2 group 1"/>
          <p:cNvSpPr/>
          <p:nvPr/>
        </p:nvSpPr>
        <p:spPr>
          <a:xfrm>
            <a:off x="2903220" y="1874520"/>
            <a:ext cx="17830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3" name="Split level 2 block 1.1"/>
          <p:cNvSpPr txBox="1"/>
          <p:nvPr/>
        </p:nvSpPr>
        <p:spPr>
          <a:xfrm>
            <a:off x="2958084" y="19293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38</a:t>
            </a:r>
            <a:endParaRPr lang="en-US" sz="1300" dirty="0"/>
          </a:p>
        </p:txBody>
      </p:sp>
      <p:sp>
        <p:nvSpPr>
          <p:cNvPr id="14" name="Split level 2 block 1.2"/>
          <p:cNvSpPr txBox="1"/>
          <p:nvPr/>
        </p:nvSpPr>
        <p:spPr>
          <a:xfrm>
            <a:off x="3387852" y="19293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27</a:t>
            </a:r>
            <a:endParaRPr lang="en-US" sz="1300" dirty="0"/>
          </a:p>
        </p:txBody>
      </p:sp>
      <p:sp>
        <p:nvSpPr>
          <p:cNvPr id="15" name="Split level 2 block 1.3"/>
          <p:cNvSpPr txBox="1"/>
          <p:nvPr/>
        </p:nvSpPr>
        <p:spPr>
          <a:xfrm>
            <a:off x="3817620" y="19293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43</a:t>
            </a:r>
            <a:endParaRPr lang="en-US" sz="1300" dirty="0"/>
          </a:p>
        </p:txBody>
      </p:sp>
      <p:sp>
        <p:nvSpPr>
          <p:cNvPr id="16" name="Split level 2 block 1.4"/>
          <p:cNvSpPr txBox="1"/>
          <p:nvPr/>
        </p:nvSpPr>
        <p:spPr>
          <a:xfrm>
            <a:off x="4247388" y="19293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Split level 2 group 2"/>
          <p:cNvSpPr/>
          <p:nvPr/>
        </p:nvSpPr>
        <p:spPr>
          <a:xfrm>
            <a:off x="4887468" y="1874520"/>
            <a:ext cx="1353312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8" name="Split level 2 block 2.1"/>
          <p:cNvSpPr txBox="1"/>
          <p:nvPr/>
        </p:nvSpPr>
        <p:spPr>
          <a:xfrm>
            <a:off x="4942332" y="19293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19" name="Split level 2 block 2.2"/>
          <p:cNvSpPr txBox="1"/>
          <p:nvPr/>
        </p:nvSpPr>
        <p:spPr>
          <a:xfrm>
            <a:off x="5372100" y="19293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82</a:t>
            </a:r>
            <a:endParaRPr lang="en-US" sz="1300" dirty="0"/>
          </a:p>
        </p:txBody>
      </p:sp>
      <p:sp>
        <p:nvSpPr>
          <p:cNvPr id="20" name="Split level 2 block 2.3"/>
          <p:cNvSpPr txBox="1"/>
          <p:nvPr/>
        </p:nvSpPr>
        <p:spPr>
          <a:xfrm>
            <a:off x="5801868" y="19293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21" name="Split level 3 group 1"/>
          <p:cNvSpPr/>
          <p:nvPr/>
        </p:nvSpPr>
        <p:spPr>
          <a:xfrm>
            <a:off x="2638044" y="2560320"/>
            <a:ext cx="923544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2" name="Split level 3 block 1.1"/>
          <p:cNvSpPr txBox="1"/>
          <p:nvPr/>
        </p:nvSpPr>
        <p:spPr>
          <a:xfrm>
            <a:off x="2692908" y="26151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38</a:t>
            </a:r>
            <a:endParaRPr lang="en-US" sz="1300" dirty="0"/>
          </a:p>
        </p:txBody>
      </p:sp>
      <p:sp>
        <p:nvSpPr>
          <p:cNvPr id="23" name="Split level 3 block 1.2"/>
          <p:cNvSpPr txBox="1"/>
          <p:nvPr/>
        </p:nvSpPr>
        <p:spPr>
          <a:xfrm>
            <a:off x="3122676" y="26151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27</a:t>
            </a:r>
            <a:endParaRPr lang="en-US" sz="1300" dirty="0"/>
          </a:p>
        </p:txBody>
      </p:sp>
      <p:sp>
        <p:nvSpPr>
          <p:cNvPr id="24" name="Split level 3 group 2"/>
          <p:cNvSpPr/>
          <p:nvPr/>
        </p:nvSpPr>
        <p:spPr>
          <a:xfrm>
            <a:off x="3762756" y="2560320"/>
            <a:ext cx="923544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5" name="Split level 3 block 2.1"/>
          <p:cNvSpPr txBox="1"/>
          <p:nvPr/>
        </p:nvSpPr>
        <p:spPr>
          <a:xfrm>
            <a:off x="3817620" y="26151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43</a:t>
            </a:r>
            <a:endParaRPr lang="en-US" sz="1300" dirty="0"/>
          </a:p>
        </p:txBody>
      </p:sp>
      <p:sp>
        <p:nvSpPr>
          <p:cNvPr id="26" name="Split level 3 block 2.2"/>
          <p:cNvSpPr txBox="1"/>
          <p:nvPr/>
        </p:nvSpPr>
        <p:spPr>
          <a:xfrm>
            <a:off x="4247388" y="26151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Split level 3 group 3"/>
          <p:cNvSpPr/>
          <p:nvPr/>
        </p:nvSpPr>
        <p:spPr>
          <a:xfrm>
            <a:off x="4887468" y="2560320"/>
            <a:ext cx="923544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8" name="Split level 3 block 3.1"/>
          <p:cNvSpPr txBox="1"/>
          <p:nvPr/>
        </p:nvSpPr>
        <p:spPr>
          <a:xfrm>
            <a:off x="4942332" y="26151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29" name="Split level 3 block 3.2"/>
          <p:cNvSpPr txBox="1"/>
          <p:nvPr/>
        </p:nvSpPr>
        <p:spPr>
          <a:xfrm>
            <a:off x="5372100" y="26151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82</a:t>
            </a:r>
            <a:endParaRPr lang="en-US" sz="1300" dirty="0"/>
          </a:p>
        </p:txBody>
      </p:sp>
      <p:sp>
        <p:nvSpPr>
          <p:cNvPr id="30" name="Split level 3 group 4"/>
          <p:cNvSpPr/>
          <p:nvPr/>
        </p:nvSpPr>
        <p:spPr>
          <a:xfrm>
            <a:off x="6012180" y="256032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1" name="Split level 3 block 4.1"/>
          <p:cNvSpPr txBox="1"/>
          <p:nvPr/>
        </p:nvSpPr>
        <p:spPr>
          <a:xfrm>
            <a:off x="6067044" y="26151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32" name="Split level 4 group 1"/>
          <p:cNvSpPr/>
          <p:nvPr/>
        </p:nvSpPr>
        <p:spPr>
          <a:xfrm>
            <a:off x="2240280" y="324612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3" name="Split level 4 block 1.1"/>
          <p:cNvSpPr txBox="1"/>
          <p:nvPr/>
        </p:nvSpPr>
        <p:spPr>
          <a:xfrm>
            <a:off x="2295144" y="33009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38</a:t>
            </a:r>
            <a:endParaRPr lang="en-US" sz="1300" dirty="0"/>
          </a:p>
        </p:txBody>
      </p:sp>
      <p:sp>
        <p:nvSpPr>
          <p:cNvPr id="34" name="Split level 4 group 2"/>
          <p:cNvSpPr/>
          <p:nvPr/>
        </p:nvSpPr>
        <p:spPr>
          <a:xfrm>
            <a:off x="2935224" y="324612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5" name="Split level 4 block 2.1"/>
          <p:cNvSpPr txBox="1"/>
          <p:nvPr/>
        </p:nvSpPr>
        <p:spPr>
          <a:xfrm>
            <a:off x="2990088" y="33009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27</a:t>
            </a:r>
            <a:endParaRPr lang="en-US" sz="1300" dirty="0"/>
          </a:p>
        </p:txBody>
      </p:sp>
      <p:sp>
        <p:nvSpPr>
          <p:cNvPr id="36" name="Split level 4 group 3"/>
          <p:cNvSpPr/>
          <p:nvPr/>
        </p:nvSpPr>
        <p:spPr>
          <a:xfrm>
            <a:off x="3630168" y="324612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7" name="Split level 4 block 3.1"/>
          <p:cNvSpPr txBox="1"/>
          <p:nvPr/>
        </p:nvSpPr>
        <p:spPr>
          <a:xfrm>
            <a:off x="3685032" y="33009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43</a:t>
            </a:r>
            <a:endParaRPr lang="en-US" sz="1300" dirty="0"/>
          </a:p>
        </p:txBody>
      </p:sp>
      <p:sp>
        <p:nvSpPr>
          <p:cNvPr id="38" name="Split level 4 group 4"/>
          <p:cNvSpPr/>
          <p:nvPr/>
        </p:nvSpPr>
        <p:spPr>
          <a:xfrm>
            <a:off x="4325112" y="324612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9" name="Split level 4 block 4.1"/>
          <p:cNvSpPr txBox="1"/>
          <p:nvPr/>
        </p:nvSpPr>
        <p:spPr>
          <a:xfrm>
            <a:off x="4379976" y="33009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40" name="Split level 4 group 5"/>
          <p:cNvSpPr/>
          <p:nvPr/>
        </p:nvSpPr>
        <p:spPr>
          <a:xfrm>
            <a:off x="5020056" y="324612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1" name="Split level 4 block 5.1"/>
          <p:cNvSpPr txBox="1"/>
          <p:nvPr/>
        </p:nvSpPr>
        <p:spPr>
          <a:xfrm>
            <a:off x="5074920" y="33009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42" name="Split level 4 group 6"/>
          <p:cNvSpPr/>
          <p:nvPr/>
        </p:nvSpPr>
        <p:spPr>
          <a:xfrm>
            <a:off x="5715000" y="324612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3" name="Split level 4 block 6.1"/>
          <p:cNvSpPr txBox="1"/>
          <p:nvPr/>
        </p:nvSpPr>
        <p:spPr>
          <a:xfrm>
            <a:off x="5769864" y="33009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82</a:t>
            </a:r>
            <a:endParaRPr lang="en-US" sz="1300" dirty="0"/>
          </a:p>
        </p:txBody>
      </p:sp>
      <p:sp>
        <p:nvSpPr>
          <p:cNvPr id="44" name="Split level 4 group 7"/>
          <p:cNvSpPr/>
          <p:nvPr/>
        </p:nvSpPr>
        <p:spPr>
          <a:xfrm>
            <a:off x="6409944" y="324612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5" name="Split level 4 block 7.1"/>
          <p:cNvSpPr txBox="1"/>
          <p:nvPr/>
        </p:nvSpPr>
        <p:spPr>
          <a:xfrm>
            <a:off x="6464808" y="33009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46" name="Caption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One element is already sorted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Step 2: The merge</a:t>
            </a:r>
            <a:endParaRPr lang="en-US" sz="3600" dirty="0"/>
          </a:p>
        </p:txBody>
      </p:sp>
      <p:sp>
        <p:nvSpPr>
          <p:cNvPr id="4" name="Two sorted lists group 1"/>
          <p:cNvSpPr/>
          <p:nvPr/>
        </p:nvSpPr>
        <p:spPr>
          <a:xfrm>
            <a:off x="2903220" y="1097280"/>
            <a:ext cx="17830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" name="Two sorted lists block 1.1"/>
          <p:cNvSpPr txBox="1"/>
          <p:nvPr/>
        </p:nvSpPr>
        <p:spPr>
          <a:xfrm>
            <a:off x="2958084" y="115214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6" name="Two sorted lists block 1.2"/>
          <p:cNvSpPr txBox="1"/>
          <p:nvPr/>
        </p:nvSpPr>
        <p:spPr>
          <a:xfrm>
            <a:off x="3387852" y="115214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27</a:t>
            </a:r>
            <a:endParaRPr lang="en-US" sz="1300" dirty="0"/>
          </a:p>
        </p:txBody>
      </p:sp>
      <p:sp>
        <p:nvSpPr>
          <p:cNvPr id="7" name="Two sorted lists block 1.3"/>
          <p:cNvSpPr txBox="1"/>
          <p:nvPr/>
        </p:nvSpPr>
        <p:spPr>
          <a:xfrm>
            <a:off x="3817620" y="115214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38</a:t>
            </a:r>
            <a:endParaRPr lang="en-US" sz="1300" dirty="0"/>
          </a:p>
        </p:txBody>
      </p:sp>
      <p:sp>
        <p:nvSpPr>
          <p:cNvPr id="8" name="Two sorted lists block 1.4"/>
          <p:cNvSpPr txBox="1"/>
          <p:nvPr/>
        </p:nvSpPr>
        <p:spPr>
          <a:xfrm>
            <a:off x="4247388" y="115214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43</a:t>
            </a:r>
            <a:endParaRPr lang="en-US" sz="1300" dirty="0"/>
          </a:p>
        </p:txBody>
      </p:sp>
      <p:sp>
        <p:nvSpPr>
          <p:cNvPr id="9" name="Two sorted lists group 2"/>
          <p:cNvSpPr/>
          <p:nvPr/>
        </p:nvSpPr>
        <p:spPr>
          <a:xfrm>
            <a:off x="4887468" y="1097280"/>
            <a:ext cx="1353312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0" name="Two sorted lists block 2.1"/>
          <p:cNvSpPr txBox="1"/>
          <p:nvPr/>
        </p:nvSpPr>
        <p:spPr>
          <a:xfrm>
            <a:off x="4942332" y="115214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11" name="Two sorted lists block 2.2"/>
          <p:cNvSpPr txBox="1"/>
          <p:nvPr/>
        </p:nvSpPr>
        <p:spPr>
          <a:xfrm>
            <a:off x="5372100" y="115214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12" name="Two sorted lists block 2.3"/>
          <p:cNvSpPr txBox="1"/>
          <p:nvPr/>
        </p:nvSpPr>
        <p:spPr>
          <a:xfrm>
            <a:off x="5801868" y="115214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82</a:t>
            </a:r>
            <a:endParaRPr lang="en-US" sz="1300" dirty="0"/>
          </a:p>
        </p:txBody>
      </p:sp>
      <p:graphicFrame>
        <p:nvGraphicFramePr>
          <p:cNvPr id="8" name="Merge step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Compare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Take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 vs 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27 vs 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3, 9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27 vs 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3, 9, 10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27 vs 82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3, 9, 10, 27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4" name="Leftovers note"/>
          <p:cNvSpPr txBox="1"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Copy the leftovers: 38, 43, 82</a:t>
            </a:r>
            <a:endParaRPr lang="en-US" sz="1400" dirty="0"/>
          </a:p>
        </p:txBody>
      </p:sp>
      <p:sp>
        <p:nvSpPr>
          <p:cNvPr id="15" name="Merged result group 1"/>
          <p:cNvSpPr/>
          <p:nvPr/>
        </p:nvSpPr>
        <p:spPr>
          <a:xfrm>
            <a:off x="3035808" y="3931920"/>
            <a:ext cx="3072384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6" name="Merged result block 1.1"/>
          <p:cNvSpPr txBox="1"/>
          <p:nvPr/>
        </p:nvSpPr>
        <p:spPr>
          <a:xfrm>
            <a:off x="3090672" y="39867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Merged result block 1.2"/>
          <p:cNvSpPr txBox="1"/>
          <p:nvPr/>
        </p:nvSpPr>
        <p:spPr>
          <a:xfrm>
            <a:off x="3520440" y="39867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18" name="Merged result block 1.3"/>
          <p:cNvSpPr txBox="1"/>
          <p:nvPr/>
        </p:nvSpPr>
        <p:spPr>
          <a:xfrm>
            <a:off x="3950208" y="39867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19" name="Merged result block 1.4"/>
          <p:cNvSpPr txBox="1"/>
          <p:nvPr/>
        </p:nvSpPr>
        <p:spPr>
          <a:xfrm>
            <a:off x="4379976" y="39867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27</a:t>
            </a:r>
            <a:endParaRPr lang="en-US" sz="1300" dirty="0"/>
          </a:p>
        </p:txBody>
      </p:sp>
      <p:sp>
        <p:nvSpPr>
          <p:cNvPr id="20" name="Merged result block 1.5"/>
          <p:cNvSpPr txBox="1"/>
          <p:nvPr/>
        </p:nvSpPr>
        <p:spPr>
          <a:xfrm>
            <a:off x="4809744" y="39867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38</a:t>
            </a:r>
            <a:endParaRPr lang="en-US" sz="1300" dirty="0"/>
          </a:p>
        </p:txBody>
      </p:sp>
      <p:sp>
        <p:nvSpPr>
          <p:cNvPr id="21" name="Merged result block 1.6"/>
          <p:cNvSpPr txBox="1"/>
          <p:nvPr/>
        </p:nvSpPr>
        <p:spPr>
          <a:xfrm>
            <a:off x="5239512" y="39867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43</a:t>
            </a:r>
            <a:endParaRPr lang="en-US" sz="1300" dirty="0"/>
          </a:p>
        </p:txBody>
      </p:sp>
      <p:sp>
        <p:nvSpPr>
          <p:cNvPr id="22" name="Merged result block 1.7"/>
          <p:cNvSpPr txBox="1"/>
          <p:nvPr/>
        </p:nvSpPr>
        <p:spPr>
          <a:xfrm>
            <a:off x="5669280" y="39867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Step 3: Merge back up</a:t>
            </a:r>
            <a:endParaRPr lang="en-US" sz="3600" dirty="0"/>
          </a:p>
        </p:txBody>
      </p:sp>
      <p:sp>
        <p:nvSpPr>
          <p:cNvPr id="4" name="Merge level 1 group 1"/>
          <p:cNvSpPr/>
          <p:nvPr/>
        </p:nvSpPr>
        <p:spPr>
          <a:xfrm>
            <a:off x="2240280" y="118872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" name="Merge level 1 block 1.1"/>
          <p:cNvSpPr txBox="1"/>
          <p:nvPr/>
        </p:nvSpPr>
        <p:spPr>
          <a:xfrm>
            <a:off x="2295144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38</a:t>
            </a:r>
            <a:endParaRPr lang="en-US" sz="1300" dirty="0"/>
          </a:p>
        </p:txBody>
      </p:sp>
      <p:sp>
        <p:nvSpPr>
          <p:cNvPr id="6" name="Merge level 1 group 2"/>
          <p:cNvSpPr/>
          <p:nvPr/>
        </p:nvSpPr>
        <p:spPr>
          <a:xfrm>
            <a:off x="2935224" y="118872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7" name="Merge level 1 block 2.1"/>
          <p:cNvSpPr txBox="1"/>
          <p:nvPr/>
        </p:nvSpPr>
        <p:spPr>
          <a:xfrm>
            <a:off x="2990088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27</a:t>
            </a:r>
            <a:endParaRPr lang="en-US" sz="1300" dirty="0"/>
          </a:p>
        </p:txBody>
      </p:sp>
      <p:sp>
        <p:nvSpPr>
          <p:cNvPr id="8" name="Merge level 1 group 3"/>
          <p:cNvSpPr/>
          <p:nvPr/>
        </p:nvSpPr>
        <p:spPr>
          <a:xfrm>
            <a:off x="3630168" y="118872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9" name="Merge level 1 block 3.1"/>
          <p:cNvSpPr txBox="1"/>
          <p:nvPr/>
        </p:nvSpPr>
        <p:spPr>
          <a:xfrm>
            <a:off x="3685032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43</a:t>
            </a:r>
            <a:endParaRPr lang="en-US" sz="1300" dirty="0"/>
          </a:p>
        </p:txBody>
      </p:sp>
      <p:sp>
        <p:nvSpPr>
          <p:cNvPr id="10" name="Merge level 1 group 4"/>
          <p:cNvSpPr/>
          <p:nvPr/>
        </p:nvSpPr>
        <p:spPr>
          <a:xfrm>
            <a:off x="4325112" y="118872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1" name="Merge level 1 block 4.1"/>
          <p:cNvSpPr txBox="1"/>
          <p:nvPr/>
        </p:nvSpPr>
        <p:spPr>
          <a:xfrm>
            <a:off x="4379976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Merge level 1 group 5"/>
          <p:cNvSpPr/>
          <p:nvPr/>
        </p:nvSpPr>
        <p:spPr>
          <a:xfrm>
            <a:off x="5020056" y="118872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3" name="Merge level 1 block 5.1"/>
          <p:cNvSpPr txBox="1"/>
          <p:nvPr/>
        </p:nvSpPr>
        <p:spPr>
          <a:xfrm>
            <a:off x="5074920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14" name="Merge level 1 group 6"/>
          <p:cNvSpPr/>
          <p:nvPr/>
        </p:nvSpPr>
        <p:spPr>
          <a:xfrm>
            <a:off x="5715000" y="118872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5" name="Merge level 1 block 6.1"/>
          <p:cNvSpPr txBox="1"/>
          <p:nvPr/>
        </p:nvSpPr>
        <p:spPr>
          <a:xfrm>
            <a:off x="5769864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82</a:t>
            </a:r>
            <a:endParaRPr lang="en-US" sz="1300" dirty="0"/>
          </a:p>
        </p:txBody>
      </p:sp>
      <p:sp>
        <p:nvSpPr>
          <p:cNvPr id="16" name="Merge level 1 group 7"/>
          <p:cNvSpPr/>
          <p:nvPr/>
        </p:nvSpPr>
        <p:spPr>
          <a:xfrm>
            <a:off x="6409944" y="118872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7" name="Merge level 1 block 7.1"/>
          <p:cNvSpPr txBox="1"/>
          <p:nvPr/>
        </p:nvSpPr>
        <p:spPr>
          <a:xfrm>
            <a:off x="6464808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18" name="Merge level 2 group 1"/>
          <p:cNvSpPr/>
          <p:nvPr/>
        </p:nvSpPr>
        <p:spPr>
          <a:xfrm>
            <a:off x="2638044" y="1874520"/>
            <a:ext cx="923544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9" name="Merge level 2 block 1.1"/>
          <p:cNvSpPr txBox="1"/>
          <p:nvPr/>
        </p:nvSpPr>
        <p:spPr>
          <a:xfrm>
            <a:off x="2692908" y="19293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27</a:t>
            </a:r>
            <a:endParaRPr lang="en-US" sz="1300" dirty="0"/>
          </a:p>
        </p:txBody>
      </p:sp>
      <p:sp>
        <p:nvSpPr>
          <p:cNvPr id="20" name="Merge level 2 block 1.2"/>
          <p:cNvSpPr txBox="1"/>
          <p:nvPr/>
        </p:nvSpPr>
        <p:spPr>
          <a:xfrm>
            <a:off x="3122676" y="19293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38</a:t>
            </a:r>
            <a:endParaRPr lang="en-US" sz="1300" dirty="0"/>
          </a:p>
        </p:txBody>
      </p:sp>
      <p:sp>
        <p:nvSpPr>
          <p:cNvPr id="21" name="Merge level 2 group 2"/>
          <p:cNvSpPr/>
          <p:nvPr/>
        </p:nvSpPr>
        <p:spPr>
          <a:xfrm>
            <a:off x="3762756" y="1874520"/>
            <a:ext cx="923544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2" name="Merge level 2 block 2.1"/>
          <p:cNvSpPr txBox="1"/>
          <p:nvPr/>
        </p:nvSpPr>
        <p:spPr>
          <a:xfrm>
            <a:off x="3817620" y="19293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Merge level 2 block 2.2"/>
          <p:cNvSpPr txBox="1"/>
          <p:nvPr/>
        </p:nvSpPr>
        <p:spPr>
          <a:xfrm>
            <a:off x="4247388" y="19293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43</a:t>
            </a:r>
            <a:endParaRPr lang="en-US" sz="1300" dirty="0"/>
          </a:p>
        </p:txBody>
      </p:sp>
      <p:sp>
        <p:nvSpPr>
          <p:cNvPr id="24" name="Merge level 2 group 3"/>
          <p:cNvSpPr/>
          <p:nvPr/>
        </p:nvSpPr>
        <p:spPr>
          <a:xfrm>
            <a:off x="4887468" y="1874520"/>
            <a:ext cx="923544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5" name="Merge level 2 block 3.1"/>
          <p:cNvSpPr txBox="1"/>
          <p:nvPr/>
        </p:nvSpPr>
        <p:spPr>
          <a:xfrm>
            <a:off x="4942332" y="19293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26" name="Merge level 2 block 3.2"/>
          <p:cNvSpPr txBox="1"/>
          <p:nvPr/>
        </p:nvSpPr>
        <p:spPr>
          <a:xfrm>
            <a:off x="5372100" y="19293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82</a:t>
            </a:r>
            <a:endParaRPr lang="en-US" sz="1300" dirty="0"/>
          </a:p>
        </p:txBody>
      </p:sp>
      <p:sp>
        <p:nvSpPr>
          <p:cNvPr id="27" name="Merge level 2 group 4"/>
          <p:cNvSpPr/>
          <p:nvPr/>
        </p:nvSpPr>
        <p:spPr>
          <a:xfrm>
            <a:off x="6012180" y="187452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8" name="Merge level 2 block 4.1"/>
          <p:cNvSpPr txBox="1"/>
          <p:nvPr/>
        </p:nvSpPr>
        <p:spPr>
          <a:xfrm>
            <a:off x="6067044" y="19293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29" name="Merge level 3 group 1"/>
          <p:cNvSpPr/>
          <p:nvPr/>
        </p:nvSpPr>
        <p:spPr>
          <a:xfrm>
            <a:off x="2903220" y="2560320"/>
            <a:ext cx="17830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0" name="Merge level 3 block 1.1"/>
          <p:cNvSpPr txBox="1"/>
          <p:nvPr/>
        </p:nvSpPr>
        <p:spPr>
          <a:xfrm>
            <a:off x="2958084" y="26151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1" name="Merge level 3 block 1.2"/>
          <p:cNvSpPr txBox="1"/>
          <p:nvPr/>
        </p:nvSpPr>
        <p:spPr>
          <a:xfrm>
            <a:off x="3387852" y="26151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27</a:t>
            </a:r>
            <a:endParaRPr lang="en-US" sz="1300" dirty="0"/>
          </a:p>
        </p:txBody>
      </p:sp>
      <p:sp>
        <p:nvSpPr>
          <p:cNvPr id="32" name="Merge level 3 block 1.3"/>
          <p:cNvSpPr txBox="1"/>
          <p:nvPr/>
        </p:nvSpPr>
        <p:spPr>
          <a:xfrm>
            <a:off x="3817620" y="26151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38</a:t>
            </a:r>
            <a:endParaRPr lang="en-US" sz="1300" dirty="0"/>
          </a:p>
        </p:txBody>
      </p:sp>
      <p:sp>
        <p:nvSpPr>
          <p:cNvPr id="33" name="Merge level 3 block 1.4"/>
          <p:cNvSpPr txBox="1"/>
          <p:nvPr/>
        </p:nvSpPr>
        <p:spPr>
          <a:xfrm>
            <a:off x="4247388" y="26151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43</a:t>
            </a:r>
            <a:endParaRPr lang="en-US" sz="1300" dirty="0"/>
          </a:p>
        </p:txBody>
      </p:sp>
      <p:sp>
        <p:nvSpPr>
          <p:cNvPr id="34" name="Merge level 3 group 2"/>
          <p:cNvSpPr/>
          <p:nvPr/>
        </p:nvSpPr>
        <p:spPr>
          <a:xfrm>
            <a:off x="4887468" y="2560320"/>
            <a:ext cx="1353312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5" name="Merge level 3 block 2.1"/>
          <p:cNvSpPr txBox="1"/>
          <p:nvPr/>
        </p:nvSpPr>
        <p:spPr>
          <a:xfrm>
            <a:off x="4942332" y="26151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36" name="Merge level 3 block 2.2"/>
          <p:cNvSpPr txBox="1"/>
          <p:nvPr/>
        </p:nvSpPr>
        <p:spPr>
          <a:xfrm>
            <a:off x="5372100" y="26151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37" name="Merge level 3 block 2.3"/>
          <p:cNvSpPr txBox="1"/>
          <p:nvPr/>
        </p:nvSpPr>
        <p:spPr>
          <a:xfrm>
            <a:off x="5801868" y="26151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82</a:t>
            </a:r>
            <a:endParaRPr lang="en-US" sz="1300" dirty="0"/>
          </a:p>
        </p:txBody>
      </p:sp>
      <p:sp>
        <p:nvSpPr>
          <p:cNvPr id="38" name="Merge level 4 group 1"/>
          <p:cNvSpPr/>
          <p:nvPr/>
        </p:nvSpPr>
        <p:spPr>
          <a:xfrm>
            <a:off x="3035808" y="3246120"/>
            <a:ext cx="3072384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9" name="Merge level 4 block 1.1"/>
          <p:cNvSpPr txBox="1"/>
          <p:nvPr/>
        </p:nvSpPr>
        <p:spPr>
          <a:xfrm>
            <a:off x="3090672" y="33009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40" name="Merge level 4 block 1.2"/>
          <p:cNvSpPr txBox="1"/>
          <p:nvPr/>
        </p:nvSpPr>
        <p:spPr>
          <a:xfrm>
            <a:off x="3520440" y="33009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41" name="Merge level 4 block 1.3"/>
          <p:cNvSpPr txBox="1"/>
          <p:nvPr/>
        </p:nvSpPr>
        <p:spPr>
          <a:xfrm>
            <a:off x="3950208" y="33009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42" name="Merge level 4 block 1.4"/>
          <p:cNvSpPr txBox="1"/>
          <p:nvPr/>
        </p:nvSpPr>
        <p:spPr>
          <a:xfrm>
            <a:off x="4379976" y="33009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27</a:t>
            </a:r>
            <a:endParaRPr lang="en-US" sz="1300" dirty="0"/>
          </a:p>
        </p:txBody>
      </p:sp>
      <p:sp>
        <p:nvSpPr>
          <p:cNvPr id="43" name="Merge level 4 block 1.5"/>
          <p:cNvSpPr txBox="1"/>
          <p:nvPr/>
        </p:nvSpPr>
        <p:spPr>
          <a:xfrm>
            <a:off x="4809744" y="33009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38</a:t>
            </a:r>
            <a:endParaRPr lang="en-US" sz="1300" dirty="0"/>
          </a:p>
        </p:txBody>
      </p:sp>
      <p:sp>
        <p:nvSpPr>
          <p:cNvPr id="44" name="Merge level 4 block 1.6"/>
          <p:cNvSpPr txBox="1"/>
          <p:nvPr/>
        </p:nvSpPr>
        <p:spPr>
          <a:xfrm>
            <a:off x="5239512" y="33009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43</a:t>
            </a:r>
            <a:endParaRPr lang="en-US" sz="1300" dirty="0"/>
          </a:p>
        </p:txBody>
      </p:sp>
      <p:sp>
        <p:nvSpPr>
          <p:cNvPr id="45" name="Merge level 4 block 1.7"/>
          <p:cNvSpPr txBox="1"/>
          <p:nvPr/>
        </p:nvSpPr>
        <p:spPr>
          <a:xfrm>
            <a:off x="5669280" y="330098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82</a:t>
            </a:r>
            <a:endParaRPr lang="en-US" sz="1300" dirty="0"/>
          </a:p>
        </p:txBody>
      </p:sp>
      <p:sp>
        <p:nvSpPr>
          <p:cNvPr id="46" name="Caption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Pairs, then groups of 3 or 4, then one sorted array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Time complexity</a:t>
            </a:r>
            <a:endParaRPr lang="en-US" sz="3600" dirty="0"/>
          </a:p>
        </p:txBody>
      </p:sp>
      <p:sp>
        <p:nvSpPr>
          <p:cNvPr id="4" name="Levels card"/>
          <p:cNvSpPr/>
          <p:nvPr/>
        </p:nvSpPr>
        <p:spPr>
          <a:xfrm>
            <a:off x="45720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5" name="Levels value"/>
          <p:cNvSpPr txBox="1"/>
          <p:nvPr/>
        </p:nvSpPr>
        <p:spPr>
          <a:xfrm>
            <a:off x="457200" y="1371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log n</a:t>
            </a:r>
            <a:endParaRPr lang="en-US" sz="3600" dirty="0"/>
          </a:p>
        </p:txBody>
      </p:sp>
      <p:sp>
        <p:nvSpPr>
          <p:cNvPr id="6" name="Levels label"/>
          <p:cNvSpPr txBox="1"/>
          <p:nvPr/>
        </p:nvSpPr>
        <p:spPr>
          <a:xfrm>
            <a:off x="594360" y="2090318"/>
            <a:ext cx="228600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levels (array halves each time)</a:t>
            </a:r>
            <a:endParaRPr lang="en-US" sz="1400" dirty="0"/>
          </a:p>
        </p:txBody>
      </p:sp>
      <p:sp>
        <p:nvSpPr>
          <p:cNvPr id="7" name="Work card"/>
          <p:cNvSpPr/>
          <p:nvPr/>
        </p:nvSpPr>
        <p:spPr>
          <a:xfrm>
            <a:off x="329184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8" name="Work value"/>
          <p:cNvSpPr txBox="1"/>
          <p:nvPr/>
        </p:nvSpPr>
        <p:spPr>
          <a:xfrm>
            <a:off x="3291840" y="1371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n</a:t>
            </a:r>
            <a:endParaRPr lang="en-US" sz="3600" dirty="0"/>
          </a:p>
        </p:txBody>
      </p:sp>
      <p:sp>
        <p:nvSpPr>
          <p:cNvPr id="9" name="Work label"/>
          <p:cNvSpPr txBox="1"/>
          <p:nvPr/>
        </p:nvSpPr>
        <p:spPr>
          <a:xfrm>
            <a:off x="3429000" y="2090318"/>
            <a:ext cx="228600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 per level (merging)</a:t>
            </a:r>
            <a:endParaRPr lang="en-US" sz="1400" dirty="0"/>
          </a:p>
        </p:txBody>
      </p:sp>
      <p:sp>
        <p:nvSpPr>
          <p:cNvPr id="10" name="Total card"/>
          <p:cNvSpPr/>
          <p:nvPr/>
        </p:nvSpPr>
        <p:spPr>
          <a:xfrm>
            <a:off x="612648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1" name="Total value"/>
          <p:cNvSpPr txBox="1"/>
          <p:nvPr/>
        </p:nvSpPr>
        <p:spPr>
          <a:xfrm>
            <a:off x="6126480" y="1371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O(n log n)</a:t>
            </a:r>
            <a:endParaRPr lang="en-US" sz="3000" dirty="0"/>
          </a:p>
        </p:txBody>
      </p:sp>
      <p:sp>
        <p:nvSpPr>
          <p:cNvPr id="12" name="Total label"/>
          <p:cNvSpPr txBox="1"/>
          <p:nvPr/>
        </p:nvSpPr>
        <p:spPr>
          <a:xfrm>
            <a:off x="6263640" y="2090318"/>
            <a:ext cx="228600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 time</a:t>
            </a:r>
            <a:endParaRPr lang="en-US" sz="1400" dirty="0"/>
          </a:p>
        </p:txBody>
      </p:sp>
      <p:sp>
        <p:nvSpPr>
          <p:cNvPr id="13" name="Recurrence card"/>
          <p:cNvSpPr/>
          <p:nvPr/>
        </p:nvSpPr>
        <p:spPr>
          <a:xfrm>
            <a:off x="457200" y="3017520"/>
            <a:ext cx="82296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4" name="Recurrence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T(n) = 2T(n/2) + n</a:t>
            </a:r>
            <a:endParaRPr lang="en-US" sz="3600" dirty="0"/>
          </a:p>
        </p:txBody>
      </p:sp>
      <p:sp>
        <p:nvSpPr>
          <p:cNvPr id="15" name="Recurrence note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half-size subproblems, plus a linear merge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Cases and space</a:t>
            </a:r>
            <a:endParaRPr lang="en-US" sz="3600" dirty="0"/>
          </a:p>
        </p:txBody>
      </p:sp>
      <p:graphicFrame>
        <p:nvGraphicFramePr>
          <p:cNvPr id="11" name="Cas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754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Best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Average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Worst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Space card"/>
          <p:cNvSpPr/>
          <p:nvPr/>
        </p:nvSpPr>
        <p:spPr>
          <a:xfrm>
            <a:off x="5577840" y="1280160"/>
            <a:ext cx="3108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6" name="Space value"/>
          <p:cNvSpPr txBox="1"/>
          <p:nvPr/>
        </p:nvSpPr>
        <p:spPr>
          <a:xfrm>
            <a:off x="5577840" y="1463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O(n)</a:t>
            </a:r>
            <a:endParaRPr lang="en-US" sz="4400" dirty="0"/>
          </a:p>
        </p:txBody>
      </p:sp>
      <p:sp>
        <p:nvSpPr>
          <p:cNvPr id="7" name="Space label"/>
          <p:cNvSpPr txBox="1"/>
          <p:nvPr/>
        </p:nvSpPr>
        <p:spPr>
          <a:xfrm>
            <a:off x="5715000" y="2553005"/>
            <a:ext cx="283464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space: a temporary array is needed for merging</a:t>
            </a:r>
            <a:endParaRPr lang="en-US" sz="1400" dirty="0"/>
          </a:p>
        </p:txBody>
      </p:sp>
      <p:sp>
        <p:nvSpPr>
          <p:cNvPr id="8" name="Caption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Same time for every input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Properties</a:t>
            </a:r>
            <a:endParaRPr lang="en-US" sz="3600" dirty="0"/>
          </a:p>
        </p:txBody>
      </p:sp>
      <p:sp>
        <p:nvSpPr>
          <p:cNvPr id="4" name="Property 1 card"/>
          <p:cNvSpPr/>
          <p:nvPr/>
        </p:nvSpPr>
        <p:spPr>
          <a:xfrm>
            <a:off x="457200" y="118872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Property 1 heading"/>
          <p:cNvSpPr txBox="1"/>
          <p:nvPr/>
        </p:nvSpPr>
        <p:spPr>
          <a:xfrm>
            <a:off x="68580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Stable</a:t>
            </a:r>
            <a:endParaRPr lang="en-US" sz="2000" dirty="0"/>
          </a:p>
        </p:txBody>
      </p:sp>
      <p:sp>
        <p:nvSpPr>
          <p:cNvPr id="6" name="Property 1 text"/>
          <p:cNvSpPr txBox="1"/>
          <p:nvPr/>
        </p:nvSpPr>
        <p:spPr>
          <a:xfrm>
            <a:off x="685800" y="1828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Equal elements keep their original order.</a:t>
            </a:r>
            <a:endParaRPr lang="en-US" sz="1400" dirty="0"/>
          </a:p>
        </p:txBody>
      </p:sp>
      <p:sp>
        <p:nvSpPr>
          <p:cNvPr id="7" name="Property 2 card"/>
          <p:cNvSpPr/>
          <p:nvPr/>
        </p:nvSpPr>
        <p:spPr>
          <a:xfrm>
            <a:off x="4754880" y="118872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Property 2 heading"/>
          <p:cNvSpPr txBox="1"/>
          <p:nvPr/>
        </p:nvSpPr>
        <p:spPr>
          <a:xfrm>
            <a:off x="498348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Not in place</a:t>
            </a:r>
            <a:endParaRPr lang="en-US" sz="2000" dirty="0"/>
          </a:p>
        </p:txBody>
      </p:sp>
      <p:sp>
        <p:nvSpPr>
          <p:cNvPr id="9" name="Property 2 text"/>
          <p:cNvSpPr txBox="1"/>
          <p:nvPr/>
        </p:nvSpPr>
        <p:spPr>
          <a:xfrm>
            <a:off x="4983480" y="1828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Array version needs O(n) extra memory.</a:t>
            </a:r>
            <a:endParaRPr lang="en-US" sz="1400" dirty="0"/>
          </a:p>
        </p:txBody>
      </p:sp>
      <p:sp>
        <p:nvSpPr>
          <p:cNvPr id="10" name="Property 3 card"/>
          <p:cNvSpPr/>
          <p:nvPr/>
        </p:nvSpPr>
        <p:spPr>
          <a:xfrm>
            <a:off x="457200" y="292608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1" name="Property 3 heading"/>
          <p:cNvSpPr txBox="1"/>
          <p:nvPr/>
        </p:nvSpPr>
        <p:spPr>
          <a:xfrm>
            <a:off x="685800" y="3108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Predictable</a:t>
            </a:r>
            <a:endParaRPr lang="en-US" sz="2000" dirty="0"/>
          </a:p>
        </p:txBody>
      </p:sp>
      <p:sp>
        <p:nvSpPr>
          <p:cNvPr id="12" name="Property 3 text"/>
          <p:cNvSpPr txBox="1"/>
          <p:nvPr/>
        </p:nvSpPr>
        <p:spPr>
          <a:xfrm>
            <a:off x="685800" y="3566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Always O(n log n), whatever the input.</a:t>
            </a:r>
            <a:endParaRPr lang="en-US" sz="1400" dirty="0"/>
          </a:p>
        </p:txBody>
      </p:sp>
      <p:sp>
        <p:nvSpPr>
          <p:cNvPr id="13" name="Property 4 card"/>
          <p:cNvSpPr/>
          <p:nvPr/>
        </p:nvSpPr>
        <p:spPr>
          <a:xfrm>
            <a:off x="4754880" y="292608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4" name="Property 4 heading"/>
          <p:cNvSpPr txBox="1"/>
          <p:nvPr/>
        </p:nvSpPr>
        <p:spPr>
          <a:xfrm>
            <a:off x="4983480" y="3108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Linked lists and big files</a:t>
            </a:r>
            <a:endParaRPr lang="en-US" sz="2000" dirty="0"/>
          </a:p>
        </p:txBody>
      </p:sp>
      <p:sp>
        <p:nvSpPr>
          <p:cNvPr id="15" name="Property 4 text"/>
          <p:cNvSpPr txBox="1"/>
          <p:nvPr/>
        </p:nvSpPr>
        <p:spPr>
          <a:xfrm>
            <a:off x="4983480" y="3566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Merge by relinking nodes; sort data too large for memory.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Merge Sort vs Quick Sort</a:t>
            </a:r>
            <a:endParaRPr lang="en-US" sz="3600" dirty="0"/>
          </a:p>
        </p:txBody>
      </p:sp>
      <p:graphicFrame>
        <p:nvGraphicFramePr>
          <p:cNvPr id="13" name="Quick Sort 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28016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Merge Sort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Quick Sort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Worst time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O(n²)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Average time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Extra space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O(log 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Stable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Caption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Choose Merge Sort for guarantees, Quick Sort for raw speed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Merge Sort vs simple sorts</a:t>
            </a:r>
            <a:endParaRPr lang="en-US" sz="3600" dirty="0"/>
          </a:p>
        </p:txBody>
      </p:sp>
      <p:graphicFrame>
        <p:nvGraphicFramePr>
          <p:cNvPr id="14" name="Simple sor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754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Algorithm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Average time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Bubble Sort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O(n²)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Insertion Sort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O(n²)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Selection Sort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O(n²)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Merge Sort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Input size card"/>
          <p:cNvSpPr/>
          <p:nvPr/>
        </p:nvSpPr>
        <p:spPr>
          <a:xfrm>
            <a:off x="5577840" y="1280160"/>
            <a:ext cx="31089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6" name="Input size value"/>
          <p:cNvSpPr txBox="1"/>
          <p:nvPr/>
        </p:nvSpPr>
        <p:spPr>
          <a:xfrm>
            <a:off x="5577840" y="1463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1,000,000</a:t>
            </a:r>
            <a:endParaRPr lang="en-US" sz="3200" dirty="0"/>
          </a:p>
        </p:txBody>
      </p:sp>
      <p:sp>
        <p:nvSpPr>
          <p:cNvPr id="7" name="Input size label"/>
          <p:cNvSpPr txBox="1"/>
          <p:nvPr/>
        </p:nvSpPr>
        <p:spPr>
          <a:xfrm>
            <a:off x="5715000" y="234086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items to sort</a:t>
            </a:r>
            <a:endParaRPr lang="en-US" sz="1400" dirty="0"/>
          </a:p>
        </p:txBody>
      </p:sp>
      <p:sp>
        <p:nvSpPr>
          <p:cNvPr id="8" name="Step counts"/>
          <p:cNvSpPr txBox="1"/>
          <p:nvPr/>
        </p:nvSpPr>
        <p:spPr>
          <a:xfrm>
            <a:off x="557784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n² = 1 trillion steps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n log n ≈ 20 million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Real-world uses</a:t>
            </a:r>
            <a:endParaRPr lang="en-US" sz="3600" dirty="0"/>
          </a:p>
        </p:txBody>
      </p:sp>
      <p:sp>
        <p:nvSpPr>
          <p:cNvPr id="4" name="Use 1 card"/>
          <p:cNvSpPr/>
          <p:nvPr/>
        </p:nvSpPr>
        <p:spPr>
          <a:xfrm>
            <a:off x="457200" y="128016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Use 1 number"/>
          <p:cNvSpPr txBox="1"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Use 1 heading"/>
          <p:cNvSpPr txBox="1"/>
          <p:nvPr/>
        </p:nvSpPr>
        <p:spPr>
          <a:xfrm>
            <a:off x="685800" y="2057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Python</a:t>
            </a:r>
            <a:endParaRPr lang="en-US" sz="2000" dirty="0"/>
          </a:p>
        </p:txBody>
      </p:sp>
      <p:sp>
        <p:nvSpPr>
          <p:cNvPr id="7" name="Use 1 text"/>
          <p:cNvSpPr txBox="1"/>
          <p:nvPr/>
        </p:nvSpPr>
        <p:spPr>
          <a:xfrm>
            <a:off x="68580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Built-in sort uses Timsort, a hybrid of merge sort and insertion sort.</a:t>
            </a:r>
            <a:endParaRPr lang="en-US" sz="1400" dirty="0"/>
          </a:p>
        </p:txBody>
      </p:sp>
      <p:sp>
        <p:nvSpPr>
          <p:cNvPr id="8" name="Use 2 card"/>
          <p:cNvSpPr/>
          <p:nvPr/>
        </p:nvSpPr>
        <p:spPr>
          <a:xfrm>
            <a:off x="3291840" y="128016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9" name="Use 2 number"/>
          <p:cNvSpPr txBox="1"/>
          <p:nvPr/>
        </p:nvSpPr>
        <p:spPr>
          <a:xfrm>
            <a:off x="3520440" y="1463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Use 2 heading"/>
          <p:cNvSpPr txBox="1"/>
          <p:nvPr/>
        </p:nvSpPr>
        <p:spPr>
          <a:xfrm>
            <a:off x="3520440" y="2057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Java</a:t>
            </a:r>
            <a:endParaRPr lang="en-US" sz="2000" dirty="0"/>
          </a:p>
        </p:txBody>
      </p:sp>
      <p:sp>
        <p:nvSpPr>
          <p:cNvPr id="11" name="Use 2 text"/>
          <p:cNvSpPr txBox="1"/>
          <p:nvPr/>
        </p:nvSpPr>
        <p:spPr>
          <a:xfrm>
            <a:off x="352044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Object sorting uses a merge-based sort.</a:t>
            </a:r>
            <a:endParaRPr lang="en-US" sz="1400" dirty="0"/>
          </a:p>
        </p:txBody>
      </p:sp>
      <p:sp>
        <p:nvSpPr>
          <p:cNvPr id="12" name="Use 3 card"/>
          <p:cNvSpPr/>
          <p:nvPr/>
        </p:nvSpPr>
        <p:spPr>
          <a:xfrm>
            <a:off x="6126480" y="128016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3" name="Use 3 number"/>
          <p:cNvSpPr txBox="1"/>
          <p:nvPr/>
        </p:nvSpPr>
        <p:spPr>
          <a:xfrm>
            <a:off x="6355080" y="14630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Use 3 heading"/>
          <p:cNvSpPr txBox="1"/>
          <p:nvPr/>
        </p:nvSpPr>
        <p:spPr>
          <a:xfrm>
            <a:off x="6355080" y="2057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Big data</a:t>
            </a:r>
            <a:endParaRPr lang="en-US" sz="2000" dirty="0"/>
          </a:p>
        </p:txBody>
      </p:sp>
      <p:sp>
        <p:nvSpPr>
          <p:cNvPr id="15" name="Use 3 text"/>
          <p:cNvSpPr txBox="1"/>
          <p:nvPr/>
        </p:nvSpPr>
        <p:spPr>
          <a:xfrm>
            <a:off x="635508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Databases and tools merge sorted chunks of huge files.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Takeaway row 1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5" name="Check 1"/>
          <p:cNvSpPr txBox="1"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akeaway 1"/>
          <p:cNvSpPr txBox="1"/>
          <p:nvPr/>
        </p:nvSpPr>
        <p:spPr>
          <a:xfrm>
            <a:off x="128016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Divide and Conquer</a:t>
            </a:r>
            <a:endParaRPr lang="en-US" sz="1800" dirty="0"/>
          </a:p>
        </p:txBody>
      </p:sp>
      <p:sp>
        <p:nvSpPr>
          <p:cNvPr id="7" name="Takeaway detail 1"/>
          <p:cNvSpPr txBox="1"/>
          <p:nvPr/>
        </p:nvSpPr>
        <p:spPr>
          <a:xfrm>
            <a:off x="4023360" y="1280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Split down to single elements, then merge back up in order.</a:t>
            </a:r>
            <a:endParaRPr lang="en-US" sz="1400" dirty="0"/>
          </a:p>
        </p:txBody>
      </p:sp>
      <p:sp>
        <p:nvSpPr>
          <p:cNvPr id="8" name="Takeaway row 2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9" name="Check 2"/>
          <p:cNvSpPr txBox="1"/>
          <p:nvPr/>
        </p:nvSpPr>
        <p:spPr>
          <a:xfrm>
            <a:off x="594360" y="20574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akeaway 2"/>
          <p:cNvSpPr txBox="1"/>
          <p:nvPr/>
        </p:nvSpPr>
        <p:spPr>
          <a:xfrm>
            <a:off x="128016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O(n log n) time</a:t>
            </a:r>
            <a:endParaRPr lang="en-US" sz="1800" dirty="0"/>
          </a:p>
        </p:txBody>
      </p:sp>
      <p:sp>
        <p:nvSpPr>
          <p:cNvPr id="11" name="Takeaway detail 2"/>
          <p:cNvSpPr txBox="1"/>
          <p:nvPr/>
        </p:nvSpPr>
        <p:spPr>
          <a:xfrm>
            <a:off x="4023360" y="2057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same in the best, average and worst case.</a:t>
            </a:r>
            <a:endParaRPr lang="en-US" sz="1400" dirty="0"/>
          </a:p>
        </p:txBody>
      </p:sp>
      <p:sp>
        <p:nvSpPr>
          <p:cNvPr id="12" name="Takeaway row 3"/>
          <p:cNvSpPr/>
          <p:nvPr/>
        </p:nvSpPr>
        <p:spPr>
          <a:xfrm>
            <a:off x="457200" y="274320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3" name="Check 3"/>
          <p:cNvSpPr txBox="1"/>
          <p:nvPr/>
        </p:nvSpPr>
        <p:spPr>
          <a:xfrm>
            <a:off x="594360" y="28346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akeaway 3"/>
          <p:cNvSpPr txBox="1"/>
          <p:nvPr/>
        </p:nvSpPr>
        <p:spPr>
          <a:xfrm>
            <a:off x="128016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O(n) space, stable</a:t>
            </a:r>
            <a:endParaRPr lang="en-US" sz="1800" dirty="0"/>
          </a:p>
        </p:txBody>
      </p:sp>
      <p:sp>
        <p:nvSpPr>
          <p:cNvPr id="15" name="Takeaway detail 3"/>
          <p:cNvSpPr txBox="1"/>
          <p:nvPr/>
        </p:nvSpPr>
        <p:spPr>
          <a:xfrm>
            <a:off x="4023360" y="2834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Needs a temporary array, but equal elements keep their order.</a:t>
            </a:r>
            <a:endParaRPr lang="en-US" sz="1400" dirty="0"/>
          </a:p>
        </p:txBody>
      </p:sp>
      <p:sp>
        <p:nvSpPr>
          <p:cNvPr id="16" name="Takeaway row 4"/>
          <p:cNvSpPr/>
          <p:nvPr/>
        </p:nvSpPr>
        <p:spPr>
          <a:xfrm>
            <a:off x="457200" y="352044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7" name="Check 4"/>
          <p:cNvSpPr txBox="1"/>
          <p:nvPr/>
        </p:nvSpPr>
        <p:spPr>
          <a:xfrm>
            <a:off x="594360" y="36118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Takeaway 4"/>
          <p:cNvSpPr txBox="1"/>
          <p:nvPr/>
        </p:nvSpPr>
        <p:spPr>
          <a:xfrm>
            <a:off x="128016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When to choose it</a:t>
            </a:r>
            <a:endParaRPr lang="en-US" sz="1800" dirty="0"/>
          </a:p>
        </p:txBody>
      </p:sp>
      <p:sp>
        <p:nvSpPr>
          <p:cNvPr id="19" name="Takeaway detail 4"/>
          <p:cNvSpPr txBox="1"/>
          <p:nvPr/>
        </p:nvSpPr>
        <p:spPr>
          <a:xfrm>
            <a:off x="4023360" y="3611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You need guaranteed speed and stability and can afford the memory.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Merge Sort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40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All 5 topics complete</a:t>
            </a:r>
            <a:endParaRPr lang="en-US" sz="2000" dirty="0"/>
          </a:p>
        </p:txBody>
      </p:sp>
      <p:sp>
        <p:nvSpPr>
          <p:cNvPr id="4" name="Thank you text"/>
          <p:cNvSpPr txBox="1"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Thanks for watching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ge Sort Dark">
  <a:themeElements>
    <a:clrScheme name="Merge Sort Dark">
      <a:dk1>
        <a:srgbClr val="F2F5FF"/>
      </a:dk1>
      <a:lt1>
        <a:srgbClr val="0B1630"/>
      </a:lt1>
      <a:dk2>
        <a:srgbClr val="8FA0C8"/>
      </a:dk2>
      <a:lt2>
        <a:srgbClr val="16264A"/>
      </a:lt2>
      <a:accent1>
        <a:srgbClr val="2EC4B6"/>
      </a:accent1>
      <a:accent2>
        <a:srgbClr val="FF9F1C"/>
      </a:accent2>
      <a:accent3>
        <a:srgbClr val="3DDC84"/>
      </a:accent3>
      <a:accent4>
        <a:srgbClr val="5B7BD5"/>
      </a:accent4>
      <a:accent5>
        <a:srgbClr val="E86A92"/>
      </a:accent5>
      <a:accent6>
        <a:srgbClr val="9B8CFF"/>
      </a:accent6>
      <a:hlink>
        <a:srgbClr val="2EC4B6"/>
      </a:hlink>
      <a:folHlink>
        <a:srgbClr val="8FA0C8"/>
      </a:folHlink>
    </a:clrScheme>
    <a:fontScheme name="Merge Sort D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Sort</dc:title>
  <dc:subject>PptxGenJS Presentation</dc:subject>
  <dc:creator>PptxGenJS</dc:creator>
  <cp:lastModifiedBy>PptxGenJS</cp:lastModifiedBy>
  <cp:revision>1</cp:revision>
  <dcterms:created xsi:type="dcterms:W3CDTF">2026-10-16T13:16:44Z</dcterms:created>
  <dcterms:modified xsi:type="dcterms:W3CDTF">2026-10-16T13:16:44Z</dcterms:modified>
</cp:coreProperties>
</file>